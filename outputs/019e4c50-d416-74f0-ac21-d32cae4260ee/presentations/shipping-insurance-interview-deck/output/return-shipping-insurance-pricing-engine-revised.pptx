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cd55bf75ff44b1" /><Relationship Type="http://schemas.openxmlformats.org/officeDocument/2006/relationships/extended-properties" Target="/docProps/app.xml" Id="R12541541fe544ff0" /><Relationship Type="http://schemas.openxmlformats.org/officeDocument/2006/relationships/officeDocument" Target="/ppt/presentation.xml" Id="R724644ee05fa46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f244a8ec634843"/>
  </p:sldMasterIdLst>
  <p:notesMasterIdLst>
    <p:notesMasterId xmlns:r="http://schemas.openxmlformats.org/officeDocument/2006/relationships" r:id="Rabbb2db1f2dd4dc5"/>
  </p:notesMasterIdLst>
  <p:sldIdLst>
    <p:sldId xmlns:r="http://schemas.openxmlformats.org/officeDocument/2006/relationships" id="256" r:id="Radc2e17399f94bc6"/>
    <p:sldId xmlns:r="http://schemas.openxmlformats.org/officeDocument/2006/relationships" id="257" r:id="R5555a58e8c13458f"/>
    <p:sldId xmlns:r="http://schemas.openxmlformats.org/officeDocument/2006/relationships" id="258" r:id="R0f6cd08df7fd41e7"/>
    <p:sldId xmlns:r="http://schemas.openxmlformats.org/officeDocument/2006/relationships" id="259" r:id="Rceb950b0ed2e4595"/>
    <p:sldId xmlns:r="http://schemas.openxmlformats.org/officeDocument/2006/relationships" id="260" r:id="Rb38d05135a0c4175"/>
    <p:sldId xmlns:r="http://schemas.openxmlformats.org/officeDocument/2006/relationships" id="261" r:id="R3a8b502b4087473a"/>
    <p:sldId xmlns:r="http://schemas.openxmlformats.org/officeDocument/2006/relationships" id="262" r:id="R66d1a2b2de8f4f1d"/>
    <p:sldId xmlns:r="http://schemas.openxmlformats.org/officeDocument/2006/relationships" id="263" r:id="R1d608aad05c2419a"/>
    <p:sldId xmlns:r="http://schemas.openxmlformats.org/officeDocument/2006/relationships" id="264" r:id="R5b13d7110ea94d19"/>
    <p:sldId xmlns:r="http://schemas.openxmlformats.org/officeDocument/2006/relationships" id="265" r:id="R0111e46f52f14798"/>
    <p:sldId xmlns:r="http://schemas.openxmlformats.org/officeDocument/2006/relationships" id="266" r:id="R5714da880f274d60"/>
    <p:sldId xmlns:r="http://schemas.openxmlformats.org/officeDocument/2006/relationships" id="267" r:id="R535f445429024f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244a8ec634843" /><Relationship Type="http://schemas.openxmlformats.org/officeDocument/2006/relationships/theme" Target="/ppt/theme/theme1.xml" Id="Rc5f640d751204b3c" /><Relationship Type="http://schemas.openxmlformats.org/officeDocument/2006/relationships/notesMaster" Target="/ppt/notesMasters/notesMaster1.xml" Id="Rabbb2db1f2dd4dc5" /><Relationship Type="http://schemas.openxmlformats.org/officeDocument/2006/relationships/presProps" Target="/ppt/presProps.xml" Id="Rc9e4e108b5c04a71" /><Relationship Type="http://schemas.openxmlformats.org/officeDocument/2006/relationships/viewProps" Target="/ppt/viewProps.xml" Id="R20194844e1554412" /><Relationship Type="http://schemas.openxmlformats.org/officeDocument/2006/relationships/tableStyles" Target="/ppt/tableStyles.xml" Id="R1eeb385e423046f2" /><Relationship Type="http://schemas.openxmlformats.org/officeDocument/2006/relationships/slide" Target="/ppt/slides/slide1.xml" Id="Radc2e17399f94bc6" /><Relationship Type="http://schemas.openxmlformats.org/officeDocument/2006/relationships/slide" Target="/ppt/slides/slide2.xml" Id="R5555a58e8c13458f" /><Relationship Type="http://schemas.openxmlformats.org/officeDocument/2006/relationships/slide" Target="/ppt/slides/slide3.xml" Id="R0f6cd08df7fd41e7" /><Relationship Type="http://schemas.openxmlformats.org/officeDocument/2006/relationships/slide" Target="/ppt/slides/slide4.xml" Id="Rceb950b0ed2e4595" /><Relationship Type="http://schemas.openxmlformats.org/officeDocument/2006/relationships/slide" Target="/ppt/slides/slide5.xml" Id="Rb38d05135a0c4175" /><Relationship Type="http://schemas.openxmlformats.org/officeDocument/2006/relationships/slide" Target="/ppt/slides/slide6.xml" Id="R3a8b502b4087473a" /><Relationship Type="http://schemas.openxmlformats.org/officeDocument/2006/relationships/slide" Target="/ppt/slides/slide7.xml" Id="R66d1a2b2de8f4f1d" /><Relationship Type="http://schemas.openxmlformats.org/officeDocument/2006/relationships/slide" Target="/ppt/slides/slide8.xml" Id="R1d608aad05c2419a" /><Relationship Type="http://schemas.openxmlformats.org/officeDocument/2006/relationships/slide" Target="/ppt/slides/slide9.xml" Id="R5b13d7110ea94d19" /><Relationship Type="http://schemas.openxmlformats.org/officeDocument/2006/relationships/slide" Target="/ppt/slides/slide10.xml" Id="R0111e46f52f14798" /><Relationship Type="http://schemas.openxmlformats.org/officeDocument/2006/relationships/slide" Target="/ppt/slides/slide11.xml" Id="R5714da880f274d60" /><Relationship Type="http://schemas.openxmlformats.org/officeDocument/2006/relationships/slide" Target="/ppt/slides/slide12.xml" Id="R535f445429024f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79a3e6eea4a43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b665845bc4703" /><Relationship Type="http://schemas.openxmlformats.org/officeDocument/2006/relationships/notesMaster" Target="/ppt/notesMasters/notesMaster1.xml" Id="R1c7aa0d902eb47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db134bbefb4c1f" /><Relationship Type="http://schemas.openxmlformats.org/officeDocument/2006/relationships/notesMaster" Target="/ppt/notesMasters/notesMaster1.xml" Id="Rc9aa68b3083d40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95479396bd4014" /><Relationship Type="http://schemas.openxmlformats.org/officeDocument/2006/relationships/notesMaster" Target="/ppt/notesMasters/notesMaster1.xml" Id="Rbeeb65d78d9845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efc28d3b6743e2" /><Relationship Type="http://schemas.openxmlformats.org/officeDocument/2006/relationships/notesMaster" Target="/ppt/notesMasters/notesMaster1.xml" Id="R6dce6ebc095545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021373baf14641" /><Relationship Type="http://schemas.openxmlformats.org/officeDocument/2006/relationships/notesMaster" Target="/ppt/notesMasters/notesMaster1.xml" Id="Rff9d76d02c44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6168e527f04b87" /><Relationship Type="http://schemas.openxmlformats.org/officeDocument/2006/relationships/notesMaster" Target="/ppt/notesMasters/notesMaster1.xml" Id="Rb32a26faa8e84c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e1b79962dd45ba" /><Relationship Type="http://schemas.openxmlformats.org/officeDocument/2006/relationships/notesMaster" Target="/ppt/notesMasters/notesMaster1.xml" Id="R794d52cb230540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5b651f5af847d0" /><Relationship Type="http://schemas.openxmlformats.org/officeDocument/2006/relationships/notesMaster" Target="/ppt/notesMasters/notesMaster1.xml" Id="Rb063e074bbfc41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4b47048e7f4ddc" /><Relationship Type="http://schemas.openxmlformats.org/officeDocument/2006/relationships/notesMaster" Target="/ppt/notesMasters/notesMaster1.xml" Id="R5b63775865be40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99a53aaa9a49b0" /><Relationship Type="http://schemas.openxmlformats.org/officeDocument/2006/relationships/notesMaster" Target="/ppt/notesMasters/notesMaster1.xml" Id="R63ed9733f29842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b2ac583d8d40da" /><Relationship Type="http://schemas.openxmlformats.org/officeDocument/2006/relationships/notesMaster" Target="/ppt/notesMasters/notesMaster1.xml" Id="R706b48cd3b1346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7c5944aa984ee6" /><Relationship Type="http://schemas.openxmlformats.org/officeDocument/2006/relationships/notesMaster" Target="/ppt/notesMasters/notesMaster1.xml" Id="Rf7ee91da0107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project as an actuarial pricing workflow, not a generic machine learning exercise. The core question is expected insurance loss per exposure.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first version keeps the product scope clean: return shipping only, not product refund or other logistics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actuarial decision in the project. Pricing at order level would misattribute freight cost and seller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creates an insurance-style claim layer, not only a return flag. This is why frequency and severity targets are explicitly separated.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baseline as a benchmark. It proves the rate level but does not segment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AUC is only the frequency ranking metric. For pricing, pure premium A/E and loss ratio calibration matter more.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let a model memorize seller_id. Credibility is a controlled actuarial way to use seller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monitoring discipline. The portfolio is near target but the elevated seller tier is still above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testing is a governance layer. The base loss ratio is acceptable, but combined adverse scenarios create large pressure.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AUC improved only marginally. GLM remains better for rate-level calibration, so the model governance answer is not to replace GLM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signals are category, route, seasonality, freight ratio, and weight. Severity is mostly freight value, which matches return-shipping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recommendation: champion GLM plus credibility, challenger XGBoost retained for risk scoring and governance.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4eb32d958415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f5b78109e3d46ad" /><Relationship Type="http://schemas.openxmlformats.org/officeDocument/2006/relationships/slideLayout" Target="/ppt/slideLayouts/slideLayout2.xml" Id="R9f8298f4f2744c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8298f4f2744c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5f167b8f5248fb" /><Relationship Type="http://schemas.openxmlformats.org/officeDocument/2006/relationships/notesSlide" Target="/ppt/notesSlides/notesSlide1.xml" Id="Rf0953217e81a4b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cb0efcfe9d401d" /><Relationship Type="http://schemas.openxmlformats.org/officeDocument/2006/relationships/notesSlide" Target="/ppt/notesSlides/notesSlide2.xml" Id="R038490564711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f57269556a4925" /><Relationship Type="http://schemas.openxmlformats.org/officeDocument/2006/relationships/notesSlide" Target="/ppt/notesSlides/notesSlide3.xml" Id="Ra956181861a246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807a4a0d164e4f" /><Relationship Type="http://schemas.openxmlformats.org/officeDocument/2006/relationships/notesSlide" Target="/ppt/notesSlides/notesSlide4.xml" Id="Rba8fe3873acd46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8f73e6db594e8c" /><Relationship Type="http://schemas.openxmlformats.org/officeDocument/2006/relationships/notesSlide" Target="/ppt/notesSlides/notesSlide5.xml" Id="R368f07b5535044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c1d91cd2cd4dec" /><Relationship Type="http://schemas.openxmlformats.org/officeDocument/2006/relationships/notesSlide" Target="/ppt/notesSlides/notesSlide6.xml" Id="R2d12ba78b83a4f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9ef753da564232" /><Relationship Type="http://schemas.openxmlformats.org/officeDocument/2006/relationships/notesSlide" Target="/ppt/notesSlides/notesSlide7.xml" Id="Raef54906c93248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6a8f90cf449c7" /><Relationship Type="http://schemas.openxmlformats.org/officeDocument/2006/relationships/notesSlide" Target="/ppt/notesSlides/notesSlide8.xml" Id="Rda2daa25c3204a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3b34daf64d41eb" /><Relationship Type="http://schemas.openxmlformats.org/officeDocument/2006/relationships/notesSlide" Target="/ppt/notesSlides/notesSlide9.xml" Id="Rcdbf535c9e8143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cc13162f9b4c7a" /><Relationship Type="http://schemas.openxmlformats.org/officeDocument/2006/relationships/notesSlide" Target="/ppt/notesSlides/notesSlide10.xml" Id="R4a4af22cda5849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fb5fee8cd64717" /><Relationship Type="http://schemas.openxmlformats.org/officeDocument/2006/relationships/notesSlide" Target="/ppt/notesSlides/notesSlide11.xml" Id="Rfe29375d829745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9cc48de02d4887" /><Relationship Type="http://schemas.openxmlformats.org/officeDocument/2006/relationships/notesSlide" Target="/ppt/notesSlides/notesSlide12.xml" Id="R03d3217b41094f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571B4-D36A-4988-BBBA-10761DC7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C7895-0050-42A8-8B5A-5ABEB6F6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7152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Return-Shipping Insurance</a:t>
            </a:r>
          </a:p>
          <a:p xmlns:a="http://schemas.openxmlformats.org/drawingml/2006/main">
            <a:pPr>
              <a:defRPr sz="34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Pricing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D922F-E453-4E5A-A2B6-19636C0A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6572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Exposure-level actuarial pricing workflow with GLM, seller credibility, monitoring, stress testing, and XGBoost challenger.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4EFE4-01B5-414B-9304-CE4F013F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719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1AB06-FB6B-492E-9E4F-13E3B685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257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EEE7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F4D9E-260B-408A-B121-7761F84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Exposure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0E68F-9D34-4A66-A2B5-4ADCA71E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05325"/>
            <a:ext cx="11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9990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9D1B9-60DC-48A6-9CDF-28F5903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05300"/>
            <a:ext cx="1257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EEE7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7287B-34E3-4D37-872F-14C82D1B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Claims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776ED-E237-4845-BD89-9F6B6E6D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05325"/>
            <a:ext cx="11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999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6216F-109B-4F37-9016-B595793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05300"/>
            <a:ext cx="1257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EEE7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0002A-2541-49E4-BBB1-7024E6C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196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GLM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DD5CE-31ED-47E2-B62D-1A755E68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05325"/>
            <a:ext cx="11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999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9ABD7-A3E2-4A41-AF9D-18C8BCAA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05300"/>
            <a:ext cx="1257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EEE7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31A9B-F8F4-4A6D-96F6-92819D37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96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Credibility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4CE83-53E9-4D95-AC64-BEEA5A74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05325"/>
            <a:ext cx="11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999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735ED-F35F-48AD-BFCA-BD1F8193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05300"/>
            <a:ext cx="1257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EEE7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60CEB-6251-482E-AD8B-B903A961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96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7D6C8-9393-49E5-8B9F-196353E5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05325"/>
            <a:ext cx="11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9990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2D98F-C923-481A-992F-9D01BC16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05300"/>
            <a:ext cx="1257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EEE7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45667-E43F-4686-A70A-4AD836C6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196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Stress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DAA6E-6BD0-4A25-9160-7B753527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05325"/>
            <a:ext cx="11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999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B7825-C59B-4C08-91F7-63A8E960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05300"/>
            <a:ext cx="1257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E9E3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EC1F8-005C-47E7-B30F-8A2BEBA7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196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XGBoost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E60F4-860F-4F3C-8AF9-E3847A73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Tom Zhang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9C1B8-A9EA-4068-A68D-B58802BA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198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3613983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98615-74C5-442E-9746-49C77441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FD0C2-0E6A-4A36-B17D-778100E7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Product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A9B06-CA86-4311-9CD6-920FE43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D0D6C-BE93-4A9E-8711-E614DDB4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873F3-BB84-4701-825F-592E8E96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project processed outputs; synthetic claim layer for demonstration.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75DDB-6211-4058-A727-C2156EC6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858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The product prices return-shipping loss,</a:t>
            </a:r>
          </a:p>
          <a:p xmlns:a="http://schemas.openxmlformats.org/drawingml/2006/main">
            <a:pPr>
              <a:defRPr sz="25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not generic refund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472D3-8844-4ADB-811C-4A133A49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479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Coverage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CE124-EDF0-4FCB-BF45-CB9C016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336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Return Shipping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9EB3A-F7B4-40D9-AB29-C4B1BFA6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09900"/>
            <a:ext cx="447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Covered loss = compliant buyer return shipping cost.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BC0E0-1615-41CE-A291-EC45C54F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B4F11-43A2-4CA7-A807-C7588D23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Explicitly not covered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E763C-71E7-46DE-801D-D4C16FE0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48DC6-BE00-43F4-ACFC-DAAA72B0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11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Product refund itself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D8A74-8FBE-4D61-8E81-5451F7D9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62275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EAAD3-CFC6-4A4F-8A17-4158844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86075"/>
            <a:ext cx="411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Fraud or refund without return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BCF6C-A97C-43F7-BA16-ACE6C51F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766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6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1AA6C-D2F9-4594-87D2-AE449437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0400"/>
            <a:ext cx="411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Failed delivery / replacement shipping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1C377-0AF6-4317-A75F-B35199E7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90925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6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7DD97-5476-4FF8-8DEA-92BE699A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14725"/>
            <a:ext cx="411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Non-delivered exposure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6461A-9D66-4181-B04B-5E45739B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3400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A return event is not automatically an insurance claim. The claim layer only pays covered return-shipping cost.</a:t>
            </a:r>
          </a:p>
        </p:txBody>
      </p:sp>
    </p:spTree>
    <p:extLst>
      <p:ext uri="{BB962C8B-B14F-4D97-AF65-F5344CB8AC3E}">
        <p14:creationId xmlns:p14="http://schemas.microsoft.com/office/powerpoint/2010/main" val="498626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C81A9F-5687-4F36-AA3E-7F7A3591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2C26E-405C-488D-AA56-9D1D6630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Exposure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88D2E-1BB4-4677-9F09-9038CFCF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ADC49-A4F2-475B-BC95-CEACB858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2BB7A-CE06-443A-9AB8-4DAFCBFE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project processed outputs; synthetic claim layer for demonstration.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F0D99-EB35-426A-B2B0-5CF0E3F7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Correct exposure definition is the foundation of pricing.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83B47-5228-418B-A43E-1C89E3B7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72390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33C65-8BFB-4692-ABD4-E71EF7E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71675"/>
            <a:ext cx="676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order_id + order_item_id + seller_id + product_id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DA48B-78D0-4798-A10E-42F3E8AD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14287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3F2ED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81442-0E6A-4289-9EAC-0709B37E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52775"/>
            <a:ext cx="1162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Portfolio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69906-CEFA-476E-9B2A-2B6DDCDA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38500"/>
            <a:ext cx="76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8A76D-8DB5-4F90-A246-A052B1E7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1238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3F2ED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0B5A2-37DD-43D5-B100-B584AA4E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14725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Seller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063A5-4D6B-46E1-9A4F-220340CE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76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2B29C-4BAA-411A-B831-C966D2CC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90950"/>
            <a:ext cx="1238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3F2ED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0E024-9925-4AA1-8A52-660F539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76675"/>
            <a:ext cx="971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21744-0A7F-4C26-BB42-5BC65283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76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99151-9C6D-46BD-8263-9D60F564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52900"/>
            <a:ext cx="21907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4E9E3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9F39C-377D-4533-AFA2-B8443F57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38625"/>
            <a:ext cx="1924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Order-item exposure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6031A-0ABA-4128-B292-78B01C62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Total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1DB1A-577E-4774-9D5F-092B1DC4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431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112,650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B6FF4-A4B1-44B0-BD88-5F5B44B6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Eligible exposures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F4E96-0BAE-48C6-AFE5-9313A3C8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432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110,197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93BC50-F5A2-4F98-BF39-BCC02834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Ineligible exposures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BA944-A9D6-437A-9BFB-66D8A4B5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2,453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DE773-D8CF-489D-9EFC-C1B3998B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001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Why not order_id alone? One order can contain multiple products and sellers, while freight_value is recorded at item level.</a:t>
            </a:r>
          </a:p>
        </p:txBody>
      </p:sp>
    </p:spTree>
    <p:extLst>
      <p:ext uri="{BB962C8B-B14F-4D97-AF65-F5344CB8AC3E}">
        <p14:creationId xmlns:p14="http://schemas.microsoft.com/office/powerpoint/2010/main" val="9958871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A36F86-1F97-4369-A937-4A1434D2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51C76-5AD4-4960-BDD8-43B249EE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Synthetic Claims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DE892-9DA3-4836-BC08-5BBCA78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26C0F-BAA5-41CF-9645-E94A80A0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3A5CE-1BF6-4017-AA63-F5F59FAF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data/processed/synthetic_claims_summary.json; claim data is synthetic.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0367D-3B7F-408A-9F06-D51CF4D8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Olist has real commerce logistics data,</a:t>
            </a:r>
          </a:p>
          <a:p xmlns:a="http://schemas.openxmlformats.org/drawingml/2006/main">
            <a:pPr>
              <a:defRPr sz="24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but no insurance claim history.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C1CBB-597F-443D-849A-64EC76BA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095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CE17B-10B7-46AB-BD4E-36E188D8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Returns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E3CDE-43F5-462E-BF7E-4218A314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342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return_requested, return_approved,</a:t>
            </a:r>
          </a:p>
          <a:p xmlns:a="http://schemas.openxmlformats.org/drawingml/2006/main">
            <a:pPr>
              <a:defRPr sz="127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refund_without_return, return_reason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BA35D-B83F-4CA4-8267-C3B5DC59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4095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8ECE6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A7A98-413F-4CAA-90C9-87E36E56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Claims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A3233-E9EA-4A4D-BBCE-58122B60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71925"/>
            <a:ext cx="342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covered_claim_flag, claim_type,</a:t>
            </a:r>
          </a:p>
          <a:p xmlns:a="http://schemas.openxmlformats.org/drawingml/2006/main">
            <a:pPr>
              <a:defRPr sz="127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gross_loss, paid_loss, net_loss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F1DCF-15BB-4EAD-A823-260BFE11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Eligible exposures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61D41-3026-473D-A254-B9EFE7BA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241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110,197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F1C97-2274-4207-82C6-5C32120C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Covered claims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05396-0F51-4121-835E-4AA8402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8,485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6FADF-27D0-412A-8205-3659FA7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719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Frequency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CC0C6-66C6-4359-AA85-7155F5A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624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7.70%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206E9-2884-472F-9334-3408DEF9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Avg severity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C705B-3D57-499C-8AD3-76B9CDF2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19.22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7F453-CF32-466B-8660-EB5EB4E6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Total net loss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9B9D3-67AA-4435-BDC6-F50A03A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163,112.68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02B92-4297-4375-8F86-CD00581E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857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Frequency target = covered_claim_flag. Severity target = net_loss on covered claims only.</a:t>
            </a:r>
          </a:p>
        </p:txBody>
      </p:sp>
    </p:spTree>
    <p:extLst>
      <p:ext uri="{BB962C8B-B14F-4D97-AF65-F5344CB8AC3E}">
        <p14:creationId xmlns:p14="http://schemas.microsoft.com/office/powerpoint/2010/main" val="5213924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75D11D-74EF-43F9-9283-C5FB3389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D682F-676C-4A26-BF06-E882085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Baseline Pricing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5FE68-E607-4201-95EB-C0822DCC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16592-48DF-4E27-B38B-BEC2A8D3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CD627-5910-47F4-A0BE-03438062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data/processed/pricing_baseline_summary.json; target loss ratio = 60%.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C29AB-D8B2-4BC4-9ADD-01D6257E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01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Start with a simple actuarial benchmark before modelling.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4CD4A-2306-4444-A9C3-BBCD7807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Portfolio pure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A09A7-EE5F-4D10-A56F-25AF577A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total net loss / eligible exposures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7983B-7853-4D79-B8FC-CD5B0878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98D3B-18CB-42DA-9C10-A16BBD7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Commercial premium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9CA34-C3E5-4C41-A4AB-3E7683A7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pure premium / target loss ratio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67C82-5B84-47BC-92EB-67B8CFF4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3143250" cy="2838450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64525-CB18-433B-A089-02A4C7FB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336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Target loss ratio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080A9-F432-4EC4-8626-027CE250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60.00%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A88DF-6B6D-4F78-9CA2-FC6B4867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Portfolio pure premium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5B09D-A5FC-4D87-9B5B-ACC22F7A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1.4802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C4152-3A93-4842-9CC9-91654FAE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Commercial premium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C1CAE-3121-4022-9CDE-8AF612B8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386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2.4670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F43BA-B791-4146-A1DB-1D0FD6D7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876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Baseline is the control model: everyone gets the same price, so it cannot differentiate category, route, freight, or seller risk.</a:t>
            </a:r>
          </a:p>
        </p:txBody>
      </p:sp>
    </p:spTree>
    <p:extLst>
      <p:ext uri="{BB962C8B-B14F-4D97-AF65-F5344CB8AC3E}">
        <p14:creationId xmlns:p14="http://schemas.microsoft.com/office/powerpoint/2010/main" val="1735296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7D223F-3434-4F30-A2BB-8A83075B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B825D-99E3-48E4-8435-E6B08983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Champion Pricing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92F7D-6FF3-4F4B-819E-49D1AD59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1730A-AD8C-44E6-A7AD-F017231D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85164-361E-4565-BDF5-F86E56D8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data/processed/glm_pricing_summary.json.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21ACD-114B-4DB4-97FF-EDA1FBFE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95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GLM is the current champion because it is explainable and calibrated.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CE636-4C43-4EC6-9606-237D99CB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0005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6BE5B-CF14-4C1B-A386-E54372C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9775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Frequency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AB090-AAE7-4DF8-BBD8-A12DB410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314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Binomial GLM</a:t>
            </a:r>
          </a:p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covered_claim_flag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E17CF-2F02-4741-A2AA-9A207A2B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0005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F12D5-95C9-4C13-BCD2-3B7415AC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Severity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6D224-ED23-4FEC-AC87-27AB53B1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9975"/>
            <a:ext cx="3333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Gamma GLM</a:t>
            </a:r>
          </a:p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net_loss on covered claims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61B63-80BF-4112-9C75-E6BEB5B3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000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ECE6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9628A-8301-4B98-8660-752A53C9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Expected loss = frequency x severity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3718E-E4AE-43AE-8946-45BBF582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66900"/>
            <a:ext cx="43815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0EA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2EB29-7305-40B1-BFB5-26B51FD8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Metric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DFF8C-AE92-4C2B-8112-104CDBC0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Test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93254-3D8A-4790-B0C0-4687EC0C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241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B6A1A-C279-4A6A-B089-457F4947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Frequency AUC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386F9-A975-4607-9A29-B41CF0FA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0.560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1B3F66-EA65-42A5-AB3C-06DE65F4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90FB6A-2B23-441A-A744-00B75B78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Pure premium A/E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16075-DA83-477A-BE53-C7C19814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1.003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D8150-E1B1-4244-B58A-1BCC458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C6FC1-8DDA-4303-B058-234EF8B8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Predicted pure premium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C4E7A0-58B6-49D0-B03F-EE9682A3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718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1.503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17CDF6-887C-4D8B-9A94-B62ED340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957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DB4A21-D985-444C-A7E2-FBCA424A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Actual pure premium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1DD7F7-0F89-4A13-AF88-63B589B8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1.508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FF9EC2-C6EB-49D6-BB83-B6C12E43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876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Feature rule: quote-time-known only. Outcome, post-bind, and synthetic generation fields are excluded.</a:t>
            </a:r>
          </a:p>
        </p:txBody>
      </p:sp>
    </p:spTree>
    <p:extLst>
      <p:ext uri="{BB962C8B-B14F-4D97-AF65-F5344CB8AC3E}">
        <p14:creationId xmlns:p14="http://schemas.microsoft.com/office/powerpoint/2010/main" val="18739911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5DDDF0-89AA-4DB4-8205-F7721B40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E1AC1-2AE1-4597-B14B-BBC93518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Seller Credibility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4A2CB-D001-4441-B332-D3D3FEFE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DDE52-9A40-4525-961A-4BA596B6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52654-59F9-4F93-98BC-65A5DB29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data/processed/seller_credibility_summary.json.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B7C47-00D4-487E-9BEF-8539256B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Seller experience matters, but direct seller_id modelling is unstable.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EC767-6EFD-4883-A9FA-7F730CC2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8958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3213C-7C73-466A-B925-61E9560D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Credibility 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19FBC-641C-454D-9AD4-EA33C5E7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Z = n / (n + 500)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2A2CA-1606-49BA-9B78-2476CB0E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seller relativity = Z x observed A/E + (1 - Z) x 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05792-084F-4499-BA41-85D201E8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3905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Shrink target = seller's GLM base expected loss,</a:t>
            </a:r>
          </a:p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not portfolio average price.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8B543-AB4D-44D7-86D3-8F354DDA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Sellers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51EB3-7C21-4F4F-B15B-AC2C6D3D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2,970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C636C-7A3F-48F9-B4F7-A43B791F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Median exposures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D719C-89EB-4965-90C4-0170311C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A237E-CB04-4815-9F99-D435648D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Sellers &gt;= 500 exposures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46F2F-41C4-4475-A0C5-9A644F37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6EDC7-05E4-44E8-8146-9E2F32BF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8572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ECE6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45904-1403-4228-A161-E23DD966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05325"/>
            <a:ext cx="7524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Portfolio normalization preserves total GLM expected loss after seller relativities.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E3DFC-80DC-4F78-A413-41C8710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857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This lets large sellers carry more of their own experience while small sellers remain close to their GLM risk mix.</a:t>
            </a:r>
          </a:p>
        </p:txBody>
      </p:sp>
    </p:spTree>
    <p:extLst>
      <p:ext uri="{BB962C8B-B14F-4D97-AF65-F5344CB8AC3E}">
        <p14:creationId xmlns:p14="http://schemas.microsoft.com/office/powerpoint/2010/main" val="4297489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900E46-0328-4373-A5C6-91E3ECC1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9E731-76DB-4B88-940F-7AF1175B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Loss Ratio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ACAD2-E652-494E-AF23-31ABB8C3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C502D-04F4-41EC-ADCC-46D504E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FC0B1-C7ED-4065-A4AB-2FE0571E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data/processed/backtest_by_seller_tier.csv.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1B6FA-2854-45AC-B0E3-DC4D859E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Portfolio A/E close to 1 is not enough; monitor by segment.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89111-EB03-4F53-BC86-F5470D3D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613A6-3B44-4581-BDB0-583E734A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Near GLM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0FA71-D4C5-483C-99AE-AB8DC849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76450"/>
            <a:ext cx="50482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1E8D4-7C87-43AD-9649-62670C94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76450"/>
            <a:ext cx="327070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6766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9F069-5091-49E5-9763-AEC99633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66925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58.3%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42854-4790-47AD-93A8-0BB07558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Elevated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63DFA-513C-4A60-BC71-2877EF8D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19400"/>
            <a:ext cx="50482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637DE-394C-4F36-917E-1DBF678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19400"/>
            <a:ext cx="4573154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9A6A6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517AA-1CF1-4BA6-BCBA-F4DE079F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09875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81.5%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03B05-FB4F-40ED-8133-7080019A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Lower than GLM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4A1D5-A719-44EE-95BD-AF93A824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62350"/>
            <a:ext cx="50482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06EC7-755B-4909-BA26-0613B3A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62350"/>
            <a:ext cx="2452889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7828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4973B-96CF-41CA-8B84-56F1F2B4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52825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43.7%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95724-80C9-46F8-B2F7-A3D152AF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Target loss ratio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9F6B5-7C3B-493F-9D28-F27F11D0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60.00%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4FD7AE-03E3-41F0-9EF8-854E088C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48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D2E7D-DE01-4894-9188-CA7FB610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0764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Elevated sellers remain above target after credibility and form a practical underwriting watchlist.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57BDB-7196-437D-9017-F3EFEA48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Portfolio GLM + credibility loss ratio = 59.37%</a:t>
            </a:r>
          </a:p>
        </p:txBody>
      </p:sp>
    </p:spTree>
    <p:extLst>
      <p:ext uri="{BB962C8B-B14F-4D97-AF65-F5344CB8AC3E}">
        <p14:creationId xmlns:p14="http://schemas.microsoft.com/office/powerpoint/2010/main" val="10618671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B8D2A-E880-4DE2-A503-8D07F090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94AF2-5E2D-4BA7-BF9A-2E08E900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Stress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8F4FA-5F0A-469C-91A8-A15C932A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A8D13-0E7C-4E77-AE6E-EDD74C1F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4B8B4-7409-4CB6-8BD3-16B1349C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data/processed/stress_test_portfolio.csv; GLM + credibility premium basis.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3862D-23D4-494C-9D36-C010B99A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A calibrated model can still be fragile under adverse scenarios.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CF9A9-36F2-4C6C-8B92-8627D0BD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C2F48-7E9B-4FDE-9C6F-7DFA0316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00250"/>
            <a:ext cx="60960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03137-30CB-402F-AA3E-51286072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00250"/>
            <a:ext cx="4021328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6766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0509A-AC8E-4205-B0AF-7C8C409F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812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59.4%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74D1F-6786-4B94-A789-533B496A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Frequency +20%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B4C33-2971-4526-B55A-D72AB824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60960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67AFD-B908-4221-8C7E-55087DC0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48260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9A836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942D6-F3D6-4C9E-95F4-7C5A4603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71.3%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8F08F-04EB-453B-A6C4-BC83BC46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Severity +20%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B55B5-D5B9-44ED-97F7-430D935A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60960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0AD32-F5B6-4A41-B94A-B775D743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48260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9A836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80A07-963D-48B8-A541-F01B3E5B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71.3%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D0908-04A9-4A98-8064-EDB8583A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Freq +10% / Sev +10%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3AB30-98C7-47E3-BFF0-BE62A888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60960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67623-6A65-496A-A405-684AA273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4865963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9A8364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A3409-94A1-4833-8BB6-B2B5D03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957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71.8%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A9CBE-4BB9-40D3-AD59-29775574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Freq +20% / Sev +20%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CD061-AD64-4EB4-9771-942C3C1F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86250"/>
            <a:ext cx="60960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B6029-17E2-412F-B80D-10F3CA65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86250"/>
            <a:ext cx="57912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9A6A62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7F354-B647-4A1D-905A-D03E8B8F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672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85.5%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B7F32-E3AF-4C26-8029-5D8FE04C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0200"/>
            <a:ext cx="781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Base conditions are close to target, but simultaneous frequency and severity deterioration creates high pressure.</a:t>
            </a:r>
          </a:p>
        </p:txBody>
      </p:sp>
    </p:spTree>
    <p:extLst>
      <p:ext uri="{BB962C8B-B14F-4D97-AF65-F5344CB8AC3E}">
        <p14:creationId xmlns:p14="http://schemas.microsoft.com/office/powerpoint/2010/main" val="3369636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5227B-C5E2-4546-9382-5EF70B0F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C9C27-3729-4E65-AA91-2CAB1731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XGBoost Challenger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D00E6-6F64-49DC-968D-9B857919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F86B4-E225-4BDA-938F-31B210BF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1A4F7-17A3-4A97-A040-C74FBD84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data/processed/model_comparison_glm_vs_xgboost.csv.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D6CCF-07CA-4F88-95D9-6085502D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42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XGBoost is tested as challenger, not assumed to be the final rate basis.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978C4-BA56-4553-9D07-26525A41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36245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A6068-2405-424C-960F-1556E6B6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Parameter sweep insight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5DA4D-6721-43EA-B805-E7E3C376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3562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First run: train AUC 0.635, test AUC 0.555</a:t>
            </a:r>
          </a:p>
          <a:p xmlns:a="http://schemas.openxmlformats.org/drawingml/2006/main">
            <a:pPr>
              <a:defRPr sz="127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Regularized: train AUC 0.589, test AUC 0.561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6E4BF-0E6E-4767-8CC0-F7A01EEE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33550"/>
            <a:ext cx="45720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0EA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013E7-71B1-45D3-A99E-A4D0FEF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66900"/>
            <a:ext cx="1771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Test metric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89CAA-A1E1-42A3-8437-3DAA1070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GLM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5CB9B-A52E-4623-9A87-58A890B6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6690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XGBoost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9F522-2810-4BD4-BE64-6D980BA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5446C-ADFE-41B5-9619-C1239ADB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1771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Frequency 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5E9FC-1DDD-4038-A612-3EC35F27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0.5598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2FE10-49C6-40FB-967E-FCE7AEA7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2410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0.5609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9834F-898F-4818-AD89-F88D200D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34529-1349-40CC-8C5C-D68B246B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1771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Pure premium A/E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6D5DB-0C23-4B08-AE8F-971BA42E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1.0030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F7BB8-F82D-42DA-B841-F9CBA13C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1.0145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D2865-3671-4291-AC7B-58DFD441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07CF1-DED8-4F18-AAA2-B5459138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1771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Predicted pure premium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BF354-B78E-4020-A652-BDBAB4F0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1.503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C98D4-B05C-4348-93A1-436BFCC3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1.486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19C40E-F72E-404C-9438-28D9F39C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62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753D2-1669-4FA6-B72F-B531F4D6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95700"/>
            <a:ext cx="1771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Loss ratio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FA43A6-6D16-47FA-A802-E2989DDF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60.18%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F206DE-5FF7-4568-8878-917DA96B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9570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60.87%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5789CD-D827-4723-AA43-FEFC05B3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88582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8ECE6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877CDF-1097-4212-BC67-D5194D75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Conclusion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2D774-8477-41D5-82A1-34F0F30C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7524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Slightly better frequency ranking, but weaker pure premium A/E</a:t>
            </a:r>
          </a:p>
          <a:p xmlns:a="http://schemas.openxmlformats.org/drawingml/2006/main">
            <a:pPr>
              <a:defRPr sz="12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and loss-ratio calibration.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487451-4DA4-4472-9FE3-A13E54B6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Therefore XGBoost remains a challenger risk score and monitoring benchmark, not the champion pricing formula.</a:t>
            </a:r>
          </a:p>
        </p:txBody>
      </p:sp>
    </p:spTree>
    <p:extLst>
      <p:ext uri="{BB962C8B-B14F-4D97-AF65-F5344CB8AC3E}">
        <p14:creationId xmlns:p14="http://schemas.microsoft.com/office/powerpoint/2010/main" val="13307097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E75716-285B-48D5-909D-931592A8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335FC-8391-4A81-AFC4-CB94147A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XGBoost Interpretability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DAB3A-659C-42D3-948A-9E113243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8A628-4AE3-4608-88B0-9F142DF1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C6FD2-A244-4832-8C86-071920BB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data/processed/xgboost_*_base_feature_summary.csv.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AC9B9-FBB5-4B79-AEBA-56A239E8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33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The challenger uses plausible signals, but interpretation does not override calibration.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0EB7E-4A5D-48C5-AB3B-FEB1129C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Frequency: top base features by native SHAP-style mean absolute contribution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2C36E-CE9A-45B1-BF25-06C3F477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category_group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3C387-4663-4E59-9014-34808FFF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43125"/>
            <a:ext cx="24765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A1137-88DC-4C99-BCD8-CB71CF37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43125"/>
            <a:ext cx="2276611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766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D7862-24E1-4522-96AA-BE3D3714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05025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25.74%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344B3-9725-4CF2-A985-1B1041CB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222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cross_state_flag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1DD55-6944-4C0A-B8C3-6530A1B1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90800"/>
            <a:ext cx="24765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4C57A-4C2F-41A1-A3AE-A1D451A1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90800"/>
            <a:ext cx="1487669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766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1BDA6-F69E-4F94-B654-7B1D12A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5270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16.82%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DD75D-D986-4C1C-9231-CBD12404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purchase_month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B3D09-C70F-4A10-96A1-430C96CC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38475"/>
            <a:ext cx="24765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257E4-D45F-467F-9845-134ED775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38475"/>
            <a:ext cx="893309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766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992E5-06DC-4844-B370-81936196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0375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10.10%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DF9EB-7364-4AE6-83A7-569B7064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freight_to_price_ratio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A3895-0439-4758-B28C-044E30BF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24765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F9377-0321-4DFD-B040-8F9CDC88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889771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766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FEB2A-BC5C-4034-99B0-0D381A7E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4805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10.06%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BF0FF-215F-4CD5-B532-0410B87D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product_weight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BB016-C458-40AC-A30D-12E57114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33825"/>
            <a:ext cx="24765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25E480-0E99-464F-9CD9-AACF307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33825"/>
            <a:ext cx="705803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766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D5F6CF-3B2E-4A20-AACB-A3A36DEF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95725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7.98%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265F28-F86B-4745-9339-4DFB6836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route_group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F4C955-4956-4E9A-B4E8-7DA3416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24765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EBE4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04A85D-4BF6-4D0A-B025-74CF8A9C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679269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6766A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0B5B77-2CBC-4CC1-813F-E1163B60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7.68%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C05DEC-752D-4DD0-A8BA-4D627C33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86000"/>
            <a:ext cx="34290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8ECE6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A48ABF-6038-4744-8E0A-04EEF847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Severity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E1A8AF-E406-4547-82A3-B0BEEB7C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1465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freight_value_capped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40DA3-B131-4635-BA42-C2C7E3E1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718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80.69% contribution share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4C1C0E-BCD9-44C5-B141-381E2F9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10050"/>
            <a:ext cx="3714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Method note: these are XGBoost native contribution summaries using pred_contribs=True, not external shap package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17351532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99CDEA-335C-435E-A907-FD8658B4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E171A-4D50-4677-901A-F7F5859C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2DE03-19EE-46D2-8D2F-FB9E6D2E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005F4-4160-4C39-B90E-3100F84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E8A73-B293-4A0C-B861-74367DEE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9990"/>
                </a:solidFill>
                <a:latin typeface="Work Sans"/>
                <a:ea typeface="Work Sans"/>
                <a:cs typeface="Work Sans"/>
              </a:defRPr>
            </a:pPr>
            <a:r>
              <a:t>Source: project_docs/29_model_selection_and_governance.md and Phase 4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11307-4477-4633-B495-BD3C05ED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Keep GLM + seller credibility as champion pricing.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B00CF-6C50-46E0-8466-2384DB96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097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Use XGBoost as challenger risk score and monitoring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98622-7E06-4138-B6BB-15670DCE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1910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8ECE6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37A6C-4DDC-4591-997F-1EBC4A42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Why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42D23-9E03-48A3-BCBA-F75C0F38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GLM is explainable and better calibrated.</a:t>
            </a:r>
          </a:p>
          <a:p xmlns:a="http://schemas.openxmlformats.org/drawingml/2006/main">
            <a:pPr>
              <a:defRPr sz="12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Credibility handles seller experience in a controlled actuarial way.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4A810-8022-48E5-928A-B261DF3D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41910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DEC40-4890-4033-80BD-F46E2AB8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Do not overclaim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8B895-463A-4B9B-90AE-8D50046A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342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XGBoost adds a nonlinear benchmark but does not yet justify production replacement.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AE22C-FB41-4FA0-A8BE-D4C67D5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Production 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122B9-CDD4-451C-A779-16A662A6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CE6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C26EC-2C60-43A9-8D52-16FEEC51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766A"/>
                </a:solidFill>
                <a:latin typeface="Work Sans"/>
                <a:ea typeface="Work Sans"/>
                <a:cs typeface="Work Sans"/>
              </a:defRPr>
            </a:pPr>
            <a:r>
              <a:t>Real order / return / claim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52326-8A5E-4FC5-A985-9C7A6F37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AE740-916E-4E61-B031-BCD8AE3F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529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Historical train + future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77A66-462E-4B58-AB03-AF893F30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5770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1B92E-1D97-47D5-A4AD-30540613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529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Claim development / IBNR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BBF8A-FCD6-4F41-BB90-B36E3145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5770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D35BD-BE7E-4F1D-A74D-1F3DDE9E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529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Expense, commission, capital loads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9C9A0-9E8D-4206-9D1B-CFED90B2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42470-D4B9-48FE-9B13-96F1E488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529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Underwriting rules for elevated sellers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20AF9-ECCD-4576-B45E-C608CF46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5770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EBE4"/>
          </a:solidFill>
          <a:ln xmlns:a="http://schemas.openxmlformats.org/drawingml/2006/main" w="9525">
            <a:solidFill>
              <a:srgbClr val="D9D6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4AD44-7350-4399-8062-BC791AA3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52950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71716"/>
                </a:solidFill>
                <a:latin typeface="Work Sans"/>
                <a:ea typeface="Work Sans"/>
                <a:cs typeface="Work Sans"/>
              </a:defRPr>
            </a:pPr>
            <a:r>
              <a:t>Drift, A/E, LR, stress monitoring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FC2A3-5737-40DD-AD32-F66CBF39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9334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E67"/>
                </a:solidFill>
                <a:latin typeface="Work Sans"/>
                <a:ea typeface="Work Sans"/>
                <a:cs typeface="Work Sans"/>
              </a:defRPr>
            </a:pPr>
            <a:r>
              <a:t>The value is not one model score. The value is a pricing workflow connecting exposure definition, expected loss, credibility, monitoring, stress testing, and governance.</a:t>
            </a:r>
          </a:p>
        </p:txBody>
      </p:sp>
    </p:spTree>
    <p:extLst>
      <p:ext uri="{BB962C8B-B14F-4D97-AF65-F5344CB8AC3E}">
        <p14:creationId xmlns:p14="http://schemas.microsoft.com/office/powerpoint/2010/main" val="173711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2026-05-22T12:21:10.0210000Z</dcterms:created>
  <dcterms:modified xsi:type="dcterms:W3CDTF">2026-05-22T12:21:10.0210000Z</dcterms:modified>
</coreProperties>
</file>